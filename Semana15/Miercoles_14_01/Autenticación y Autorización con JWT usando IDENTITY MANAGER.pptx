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65" r:id="rId4"/>
    <p:sldId id="257" r:id="rId5"/>
    <p:sldId id="258" r:id="rId6"/>
    <p:sldId id="259" r:id="rId7"/>
    <p:sldId id="260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956DD-C8FB-4115-93C2-D834696C2D9E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58EA4-1E99-45C2-B159-9F47B783E0D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5270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956DD-C8FB-4115-93C2-D834696C2D9E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58EA4-1E99-45C2-B159-9F47B783E0D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4117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956DD-C8FB-4115-93C2-D834696C2D9E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58EA4-1E99-45C2-B159-9F47B783E0D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0511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956DD-C8FB-4115-93C2-D834696C2D9E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58EA4-1E99-45C2-B159-9F47B783E0D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6686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956DD-C8FB-4115-93C2-D834696C2D9E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58EA4-1E99-45C2-B159-9F47B783E0D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5337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956DD-C8FB-4115-93C2-D834696C2D9E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58EA4-1E99-45C2-B159-9F47B783E0D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433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956DD-C8FB-4115-93C2-D834696C2D9E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58EA4-1E99-45C2-B159-9F47B783E0D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6843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956DD-C8FB-4115-93C2-D834696C2D9E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58EA4-1E99-45C2-B159-9F47B783E0D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0898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956DD-C8FB-4115-93C2-D834696C2D9E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58EA4-1E99-45C2-B159-9F47B783E0D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857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956DD-C8FB-4115-93C2-D834696C2D9E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58EA4-1E99-45C2-B159-9F47B783E0D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0191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956DD-C8FB-4115-93C2-D834696C2D9E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58EA4-1E99-45C2-B159-9F47B783E0D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437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3956DD-C8FB-4115-93C2-D834696C2D9E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C58EA4-1E99-45C2-B159-9F47B783E0D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926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s-PE" b="1" u="sng" dirty="0"/>
              <a:t>Autenticación y Autorización con JWT usando IDENTITY </a:t>
            </a:r>
            <a:r>
              <a:rPr lang="es-PE" b="1" u="sng" dirty="0" smtClean="0"/>
              <a:t>MANAGER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3763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b="1" dirty="0" smtClean="0"/>
              <a:t>¿Qué es JWT?</a:t>
            </a:r>
            <a:endParaRPr lang="en-US" b="1" dirty="0"/>
          </a:p>
        </p:txBody>
      </p:sp>
      <p:sp>
        <p:nvSpPr>
          <p:cNvPr id="6" name="Marcador de contenido 5"/>
          <p:cNvSpPr>
            <a:spLocks noGrp="1"/>
          </p:cNvSpPr>
          <p:nvPr>
            <p:ph idx="1"/>
          </p:nvPr>
        </p:nvSpPr>
        <p:spPr>
          <a:xfrm>
            <a:off x="838200" y="1507573"/>
            <a:ext cx="10515600" cy="4351338"/>
          </a:xfrm>
        </p:spPr>
        <p:txBody>
          <a:bodyPr>
            <a:normAutofit lnSpcReduction="10000"/>
          </a:bodyPr>
          <a:lstStyle/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s-MX" sz="2000" b="1" dirty="0" smtClean="0"/>
              <a:t>JWT (JSON Web </a:t>
            </a:r>
            <a:r>
              <a:rPr lang="es-MX" sz="2000" b="1" dirty="0" err="1" smtClean="0"/>
              <a:t>Token</a:t>
            </a:r>
            <a:r>
              <a:rPr lang="es-MX" sz="2000" dirty="0" smtClean="0"/>
              <a:t>) en .NET es una forma de </a:t>
            </a:r>
            <a:r>
              <a:rPr lang="es-MX" sz="2000" b="1" dirty="0" smtClean="0"/>
              <a:t>autenticación y autorización</a:t>
            </a:r>
            <a:r>
              <a:rPr lang="es-MX" sz="2000" dirty="0" smtClean="0"/>
              <a:t> que permite a las aplicaciones web y </a:t>
            </a:r>
            <a:r>
              <a:rPr lang="es-MX" sz="2000" dirty="0" err="1" smtClean="0"/>
              <a:t>APIs</a:t>
            </a:r>
            <a:r>
              <a:rPr lang="es-MX" sz="2000" dirty="0" smtClean="0"/>
              <a:t> intercambiar información de manera segura entre diferentes partes como un servidor y un cliente. Un JWT es un </a:t>
            </a:r>
            <a:r>
              <a:rPr lang="es-MX" sz="2000" b="1" dirty="0" err="1" smtClean="0"/>
              <a:t>token</a:t>
            </a:r>
            <a:r>
              <a:rPr lang="es-MX" sz="2000" dirty="0" smtClean="0"/>
              <a:t> que se utiliza para verificar la identidad de un usuario o cliente, permitiendo el acceso a ciertos recursos en una aplicación.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Características </a:t>
            </a:r>
            <a:r>
              <a:rPr kumimoji="0" lang="en-US" alt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principales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JWT: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Token </a:t>
            </a:r>
            <a:r>
              <a:rPr kumimoji="0" lang="en-US" alt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basado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JSON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Un JWT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está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compuesto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por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tres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partes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separadas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por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puntos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):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Header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Contiene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el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tipo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token (JWT) y el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algoritmo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firma (como HS256 o RS256).</a:t>
            </a:r>
          </a:p>
          <a:p>
            <a:pPr marL="457200" lvl="1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 startAt="2"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Payload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Contiene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las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afirmaciones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claims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que son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datos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del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usuario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cliente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como el </a:t>
            </a:r>
            <a:r>
              <a:rPr kumimoji="0" lang="en-US" alt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userId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username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email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etc.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 startAt="3"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Signature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una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firma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generada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una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clave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secreta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privada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para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asegurar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que el token no ha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sido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alterado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67605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3511950" y="528503"/>
            <a:ext cx="469391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2800" b="1" dirty="0" smtClean="0"/>
              <a:t>¿Cómo funciona JWT en .NET?</a:t>
            </a:r>
            <a:endParaRPr lang="en-US" sz="2800" b="1" dirty="0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670681" y="1282149"/>
            <a:ext cx="10376452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 </a:t>
            </a:r>
            <a:r>
              <a:rPr kumimoji="0" lang="en-US" altLang="en-US" sz="2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usuario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inicia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sesión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El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cliente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(como un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navegador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una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aplicación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móvil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envía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las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credenciales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nombre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usuario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contraseña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al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servidor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 </a:t>
            </a:r>
            <a:r>
              <a:rPr kumimoji="0" lang="en-US" altLang="en-US" sz="2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servidor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genera un token JWT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Si las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credenciales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son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válidas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el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servidor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genera un JWT con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información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relevante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del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usuario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como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id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o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roles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 </a:t>
            </a:r>
            <a:r>
              <a:rPr kumimoji="0" lang="en-US" altLang="en-US" sz="2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cliente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almacena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el JWT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El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cliente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almacena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este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token,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típicamente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el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almacenamiento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local o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cookies.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 </a:t>
            </a:r>
            <a:r>
              <a:rPr kumimoji="0" lang="en-US" altLang="en-US" sz="2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cliente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envía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el JWT </a:t>
            </a:r>
            <a:r>
              <a:rPr kumimoji="0" lang="en-US" altLang="en-US" sz="2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cada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solicitud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En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cada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solicitud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posterior, el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cliente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envía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el token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el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encabezado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Authorization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usando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el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esquema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Bearer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 </a:t>
            </a:r>
            <a:r>
              <a:rPr kumimoji="0" lang="en-US" altLang="en-US" sz="2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servidor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valida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el token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El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servidor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verifica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 firma del token. Si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válido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el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servidor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permite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el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acceso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al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recurso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7338880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b="1" dirty="0"/>
              <a:t>¿Cómo se relacionan IDENTITY Y JWT?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752462"/>
          </a:xfrm>
        </p:spPr>
        <p:txBody>
          <a:bodyPr/>
          <a:lstStyle/>
          <a:p>
            <a:pPr algn="just"/>
            <a:r>
              <a:rPr lang="es-PE" dirty="0"/>
              <a:t>En realidad, </a:t>
            </a:r>
            <a:r>
              <a:rPr lang="es-PE" b="1" dirty="0"/>
              <a:t>ASP.NET Core </a:t>
            </a:r>
            <a:r>
              <a:rPr lang="es-PE" b="1" dirty="0" err="1"/>
              <a:t>Identity</a:t>
            </a:r>
            <a:r>
              <a:rPr lang="es-PE" dirty="0"/>
              <a:t> y </a:t>
            </a:r>
            <a:r>
              <a:rPr lang="es-PE" b="1" dirty="0"/>
              <a:t>JWT (JSON Web </a:t>
            </a:r>
            <a:r>
              <a:rPr lang="es-PE" b="1" dirty="0" err="1"/>
              <a:t>Tokens</a:t>
            </a:r>
            <a:r>
              <a:rPr lang="es-PE" b="1" dirty="0"/>
              <a:t>)</a:t>
            </a:r>
            <a:r>
              <a:rPr lang="es-PE" dirty="0"/>
              <a:t> no son dos formas de autenticación completamente separadas; más bien, son componentes que pueden trabajar juntos para proporcionar una solución de autenticación robusta en una aplicación web.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45144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755374"/>
            <a:ext cx="10515600" cy="5421589"/>
          </a:xfrm>
        </p:spPr>
        <p:txBody>
          <a:bodyPr/>
          <a:lstStyle/>
          <a:p>
            <a:pPr marL="0" indent="0">
              <a:buNone/>
            </a:pPr>
            <a:r>
              <a:rPr lang="es-PE" b="1" dirty="0"/>
              <a:t>ASP.NET Core </a:t>
            </a:r>
            <a:r>
              <a:rPr lang="es-PE" b="1" dirty="0" err="1"/>
              <a:t>Identity</a:t>
            </a:r>
            <a:endParaRPr lang="en-US" b="1" dirty="0"/>
          </a:p>
          <a:p>
            <a:pPr marL="0" indent="0" algn="just">
              <a:buNone/>
            </a:pPr>
            <a:r>
              <a:rPr lang="es-PE" b="1" dirty="0"/>
              <a:t>ASP.NET Core </a:t>
            </a:r>
            <a:r>
              <a:rPr lang="es-PE" b="1" dirty="0" err="1"/>
              <a:t>Identity</a:t>
            </a:r>
            <a:r>
              <a:rPr lang="es-PE" dirty="0"/>
              <a:t> es un sistema de autenticación y autorización que proporciona funcionalidades listas para usar para gestionar usuarios, roles y la persistencia de datos de usuario en una base de datos. </a:t>
            </a:r>
            <a:r>
              <a:rPr lang="en-US" dirty="0" err="1"/>
              <a:t>Es</a:t>
            </a:r>
            <a:r>
              <a:rPr lang="en-US" dirty="0"/>
              <a:t> </a:t>
            </a:r>
            <a:r>
              <a:rPr lang="en-US" dirty="0" err="1"/>
              <a:t>útil</a:t>
            </a:r>
            <a:r>
              <a:rPr lang="en-US" dirty="0"/>
              <a:t> para </a:t>
            </a:r>
            <a:r>
              <a:rPr lang="en-US" dirty="0" err="1"/>
              <a:t>aplicaciones</a:t>
            </a:r>
            <a:r>
              <a:rPr lang="en-US" dirty="0"/>
              <a:t> que </a:t>
            </a:r>
            <a:r>
              <a:rPr lang="en-US" dirty="0" err="1"/>
              <a:t>requieren</a:t>
            </a:r>
            <a:r>
              <a:rPr lang="en-US" dirty="0"/>
              <a:t>:</a:t>
            </a:r>
          </a:p>
          <a:p>
            <a:pPr lvl="0" algn="just"/>
            <a:r>
              <a:rPr lang="en-US" dirty="0" err="1"/>
              <a:t>Registro</a:t>
            </a:r>
            <a:r>
              <a:rPr lang="en-US" dirty="0"/>
              <a:t> de </a:t>
            </a:r>
            <a:r>
              <a:rPr lang="en-US" dirty="0" err="1"/>
              <a:t>usuarios</a:t>
            </a:r>
            <a:r>
              <a:rPr lang="en-US" dirty="0"/>
              <a:t>.</a:t>
            </a:r>
          </a:p>
          <a:p>
            <a:pPr lvl="0" algn="just"/>
            <a:r>
              <a:rPr lang="en-US" dirty="0" err="1"/>
              <a:t>Inicio</a:t>
            </a:r>
            <a:r>
              <a:rPr lang="en-US" dirty="0"/>
              <a:t> de </a:t>
            </a:r>
            <a:r>
              <a:rPr lang="en-US" dirty="0" err="1"/>
              <a:t>sesión</a:t>
            </a:r>
            <a:r>
              <a:rPr lang="en-US" dirty="0"/>
              <a:t>.</a:t>
            </a:r>
          </a:p>
          <a:p>
            <a:pPr lvl="0" algn="just"/>
            <a:r>
              <a:rPr lang="es-PE" dirty="0"/>
              <a:t>Gestión de roles y permisos.</a:t>
            </a:r>
            <a:endParaRPr lang="en-US" dirty="0"/>
          </a:p>
          <a:p>
            <a:pPr lvl="0" algn="just"/>
            <a:r>
              <a:rPr lang="es-PE" dirty="0"/>
              <a:t>Integración con diferentes proveedores de autenticación externos (Google, Facebook, etc.).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16450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622852"/>
            <a:ext cx="10515600" cy="3246783"/>
          </a:xfrm>
        </p:spPr>
        <p:txBody>
          <a:bodyPr/>
          <a:lstStyle/>
          <a:p>
            <a:pPr marL="0" indent="0" algn="just">
              <a:buNone/>
            </a:pPr>
            <a:r>
              <a:rPr lang="es-PE" b="1" dirty="0"/>
              <a:t>JWT (JSON Web </a:t>
            </a:r>
            <a:r>
              <a:rPr lang="es-PE" b="1" dirty="0" err="1"/>
              <a:t>Tokens</a:t>
            </a:r>
            <a:r>
              <a:rPr lang="es-PE" b="1" dirty="0"/>
              <a:t>)</a:t>
            </a:r>
            <a:endParaRPr lang="en-US" b="1" dirty="0"/>
          </a:p>
          <a:p>
            <a:pPr marL="0" indent="0" algn="just">
              <a:buNone/>
            </a:pPr>
            <a:r>
              <a:rPr lang="es-PE" b="1" dirty="0" smtClean="0"/>
              <a:t>JWT</a:t>
            </a:r>
            <a:r>
              <a:rPr lang="es-PE" dirty="0" smtClean="0"/>
              <a:t> </a:t>
            </a:r>
            <a:r>
              <a:rPr lang="es-PE" dirty="0"/>
              <a:t>es un método para representar </a:t>
            </a:r>
            <a:r>
              <a:rPr lang="es-PE" b="1" dirty="0" err="1" smtClean="0"/>
              <a:t>Claims</a:t>
            </a:r>
            <a:r>
              <a:rPr lang="es-PE" dirty="0" smtClean="0"/>
              <a:t> </a:t>
            </a:r>
            <a:r>
              <a:rPr lang="es-PE" dirty="0"/>
              <a:t>entre dos partes de forma segura. Es un </a:t>
            </a:r>
            <a:r>
              <a:rPr lang="es-PE" dirty="0" err="1"/>
              <a:t>token</a:t>
            </a:r>
            <a:r>
              <a:rPr lang="es-PE" dirty="0"/>
              <a:t> que se utiliza generalmente para la autenticación de </a:t>
            </a:r>
            <a:r>
              <a:rPr lang="es-PE" dirty="0" err="1"/>
              <a:t>APIs</a:t>
            </a:r>
            <a:r>
              <a:rPr lang="es-PE" dirty="0"/>
              <a:t> y aplicaciones distribuidas. Los </a:t>
            </a:r>
            <a:r>
              <a:rPr lang="es-PE" dirty="0" err="1"/>
              <a:t>tokens</a:t>
            </a:r>
            <a:r>
              <a:rPr lang="es-PE" dirty="0"/>
              <a:t> JWT contienen información sobre el usuario y pueden ser verificados y validados por el servidor sin necesidad de almacenar información adicional sobre el usuario en el servidor.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54463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768626"/>
            <a:ext cx="10515600" cy="5408337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es-PE" b="1" dirty="0"/>
              <a:t>Integración de ASP.NET Core </a:t>
            </a:r>
            <a:r>
              <a:rPr lang="es-PE" b="1" dirty="0" err="1"/>
              <a:t>Identity</a:t>
            </a:r>
            <a:r>
              <a:rPr lang="es-PE" b="1" dirty="0"/>
              <a:t> y JWT</a:t>
            </a:r>
            <a:endParaRPr lang="en-US" b="1" dirty="0"/>
          </a:p>
          <a:p>
            <a:pPr marL="0" indent="0" algn="just">
              <a:buNone/>
            </a:pPr>
            <a:r>
              <a:rPr lang="es-PE" dirty="0"/>
              <a:t>Puedes combinar </a:t>
            </a:r>
            <a:r>
              <a:rPr lang="es-PE" b="1" dirty="0"/>
              <a:t>ASP.NET Core </a:t>
            </a:r>
            <a:r>
              <a:rPr lang="es-PE" b="1" dirty="0" err="1"/>
              <a:t>Identity</a:t>
            </a:r>
            <a:r>
              <a:rPr lang="es-PE" b="1" dirty="0"/>
              <a:t> y JWT </a:t>
            </a:r>
            <a:r>
              <a:rPr lang="es-PE" dirty="0"/>
              <a:t>para crear una solución de autenticación que utiliza </a:t>
            </a:r>
            <a:r>
              <a:rPr lang="es-PE" b="1" u="sng" dirty="0" err="1"/>
              <a:t>Identity</a:t>
            </a:r>
            <a:r>
              <a:rPr lang="es-PE" b="1" u="sng" dirty="0"/>
              <a:t> para la gestión de usuarios </a:t>
            </a:r>
            <a:r>
              <a:rPr lang="es-PE" dirty="0"/>
              <a:t>y </a:t>
            </a:r>
            <a:r>
              <a:rPr lang="es-PE" b="1" u="sng" dirty="0"/>
              <a:t>JWT para la autenticación basada en </a:t>
            </a:r>
            <a:r>
              <a:rPr lang="es-PE" b="1" u="sng" dirty="0" err="1"/>
              <a:t>tokens</a:t>
            </a:r>
            <a:r>
              <a:rPr lang="es-PE" dirty="0"/>
              <a:t>. </a:t>
            </a:r>
            <a:r>
              <a:rPr lang="en-US" dirty="0" err="1"/>
              <a:t>Aquí</a:t>
            </a:r>
            <a:r>
              <a:rPr lang="en-US" dirty="0"/>
              <a:t> </a:t>
            </a:r>
            <a:r>
              <a:rPr lang="en-US" dirty="0" err="1"/>
              <a:t>está</a:t>
            </a:r>
            <a:r>
              <a:rPr lang="en-US" dirty="0"/>
              <a:t> el </a:t>
            </a:r>
            <a:r>
              <a:rPr lang="en-US" dirty="0" err="1"/>
              <a:t>flujo</a:t>
            </a:r>
            <a:r>
              <a:rPr lang="en-US" dirty="0"/>
              <a:t> </a:t>
            </a:r>
            <a:r>
              <a:rPr lang="en-US" dirty="0" err="1"/>
              <a:t>típico</a:t>
            </a:r>
            <a:r>
              <a:rPr lang="en-US" dirty="0"/>
              <a:t> de </a:t>
            </a:r>
            <a:r>
              <a:rPr lang="en-US" dirty="0" err="1"/>
              <a:t>cómo</a:t>
            </a:r>
            <a:r>
              <a:rPr lang="en-US" dirty="0"/>
              <a:t> </a:t>
            </a:r>
            <a:r>
              <a:rPr lang="en-US" dirty="0" err="1"/>
              <a:t>funcionan</a:t>
            </a:r>
            <a:r>
              <a:rPr lang="en-US" dirty="0"/>
              <a:t> </a:t>
            </a:r>
            <a:r>
              <a:rPr lang="en-US" dirty="0" err="1"/>
              <a:t>juntos</a:t>
            </a:r>
            <a:r>
              <a:rPr lang="en-US" dirty="0"/>
              <a:t>:</a:t>
            </a:r>
          </a:p>
          <a:p>
            <a:pPr lvl="0" algn="just"/>
            <a:r>
              <a:rPr lang="en-US" b="1" dirty="0" err="1"/>
              <a:t>Registro</a:t>
            </a:r>
            <a:r>
              <a:rPr lang="en-US" b="1" dirty="0"/>
              <a:t> y Login</a:t>
            </a:r>
            <a:r>
              <a:rPr lang="en-US" dirty="0"/>
              <a:t>:</a:t>
            </a:r>
          </a:p>
          <a:p>
            <a:pPr lvl="1" algn="just"/>
            <a:r>
              <a:rPr lang="es-PE" dirty="0"/>
              <a:t>Usas ASP.NET Core </a:t>
            </a:r>
            <a:r>
              <a:rPr lang="es-PE" dirty="0" err="1"/>
              <a:t>Identity</a:t>
            </a:r>
            <a:r>
              <a:rPr lang="es-PE" dirty="0"/>
              <a:t> para registrar y autenticar usuarios.</a:t>
            </a:r>
            <a:endParaRPr lang="en-US" dirty="0"/>
          </a:p>
          <a:p>
            <a:pPr lvl="1" algn="just"/>
            <a:r>
              <a:rPr lang="es-PE" dirty="0"/>
              <a:t>Una vez que un usuario ha iniciado sesión con éxito, el servidor genera un </a:t>
            </a:r>
            <a:r>
              <a:rPr lang="es-PE" dirty="0" err="1"/>
              <a:t>token</a:t>
            </a:r>
            <a:r>
              <a:rPr lang="es-PE" dirty="0"/>
              <a:t> JWT.</a:t>
            </a:r>
            <a:endParaRPr lang="en-US" dirty="0"/>
          </a:p>
          <a:p>
            <a:pPr lvl="0" algn="just"/>
            <a:r>
              <a:rPr lang="en-US" b="1" dirty="0" err="1"/>
              <a:t>Emisión</a:t>
            </a:r>
            <a:r>
              <a:rPr lang="en-US" b="1" dirty="0"/>
              <a:t> de Tokens</a:t>
            </a:r>
            <a:r>
              <a:rPr lang="en-US" dirty="0"/>
              <a:t>:</a:t>
            </a:r>
          </a:p>
          <a:p>
            <a:pPr lvl="1" algn="just"/>
            <a:r>
              <a:rPr lang="es-PE" dirty="0"/>
              <a:t>El </a:t>
            </a:r>
            <a:r>
              <a:rPr lang="es-PE" dirty="0" err="1"/>
              <a:t>token</a:t>
            </a:r>
            <a:r>
              <a:rPr lang="es-PE" dirty="0"/>
              <a:t> JWT contiene la información del usuario (reclamaciones) y es firmado por el servidor.</a:t>
            </a:r>
            <a:endParaRPr lang="en-US" dirty="0"/>
          </a:p>
          <a:p>
            <a:pPr lvl="1" algn="just"/>
            <a:r>
              <a:rPr lang="es-PE" dirty="0"/>
              <a:t>El cliente (por ejemplo, una aplicación web o móvil) almacena este </a:t>
            </a:r>
            <a:r>
              <a:rPr lang="es-PE" dirty="0" err="1"/>
              <a:t>token</a:t>
            </a:r>
            <a:r>
              <a:rPr lang="es-PE" dirty="0"/>
              <a:t>.</a:t>
            </a:r>
            <a:endParaRPr lang="en-US" dirty="0"/>
          </a:p>
          <a:p>
            <a:pPr lvl="0" algn="just"/>
            <a:r>
              <a:rPr lang="en-US" b="1" dirty="0" err="1"/>
              <a:t>Uso</a:t>
            </a:r>
            <a:r>
              <a:rPr lang="en-US" b="1" dirty="0"/>
              <a:t> del Token</a:t>
            </a:r>
            <a:r>
              <a:rPr lang="en-US" dirty="0"/>
              <a:t>:</a:t>
            </a:r>
          </a:p>
          <a:p>
            <a:pPr lvl="1" algn="just"/>
            <a:r>
              <a:rPr lang="es-PE" dirty="0"/>
              <a:t>En solicitudes subsecuentes a la API, el cliente envía el </a:t>
            </a:r>
            <a:r>
              <a:rPr lang="es-PE" dirty="0" err="1"/>
              <a:t>token</a:t>
            </a:r>
            <a:r>
              <a:rPr lang="es-PE" dirty="0"/>
              <a:t> JWT en el encabezado de autorización.</a:t>
            </a:r>
            <a:endParaRPr lang="en-US" dirty="0"/>
          </a:p>
          <a:p>
            <a:pPr lvl="1" algn="just"/>
            <a:r>
              <a:rPr lang="es-PE" dirty="0"/>
              <a:t>El servidor valida el </a:t>
            </a:r>
            <a:r>
              <a:rPr lang="es-PE" dirty="0" err="1"/>
              <a:t>token</a:t>
            </a:r>
            <a:r>
              <a:rPr lang="es-PE" dirty="0"/>
              <a:t> para asegurarse de que no ha sido alterado y de que aún es válido.</a:t>
            </a:r>
            <a:endParaRPr lang="en-US" dirty="0"/>
          </a:p>
          <a:p>
            <a:pPr lvl="0" algn="just"/>
            <a:r>
              <a:rPr lang="en-US" b="1" dirty="0" err="1"/>
              <a:t>Acceso</a:t>
            </a:r>
            <a:r>
              <a:rPr lang="en-US" b="1" dirty="0"/>
              <a:t> a </a:t>
            </a:r>
            <a:r>
              <a:rPr lang="en-US" b="1" dirty="0" err="1"/>
              <a:t>Recursos</a:t>
            </a:r>
            <a:r>
              <a:rPr lang="en-US" dirty="0"/>
              <a:t>:</a:t>
            </a:r>
          </a:p>
          <a:p>
            <a:pPr lvl="1" algn="just"/>
            <a:r>
              <a:rPr lang="es-PE" dirty="0"/>
              <a:t>Una vez validado el </a:t>
            </a:r>
            <a:r>
              <a:rPr lang="es-PE" dirty="0" err="1"/>
              <a:t>token</a:t>
            </a:r>
            <a:r>
              <a:rPr lang="es-PE" dirty="0"/>
              <a:t>, el servidor puede autorizar el acceso a los recursos protegidos basándose en las reclamaciones del </a:t>
            </a:r>
            <a:r>
              <a:rPr lang="es-PE" dirty="0" err="1"/>
              <a:t>token</a:t>
            </a:r>
            <a:r>
              <a:rPr lang="es-PE" dirty="0"/>
              <a:t> (por ejemplo, roles, permisos, etc.).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77033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Ejemplo de </a:t>
            </a:r>
            <a:r>
              <a:rPr lang="en-US" b="1" dirty="0" err="1" smtClean="0"/>
              <a:t>Flujo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algn="just"/>
            <a:r>
              <a:rPr lang="es-MX" b="1" dirty="0" smtClean="0"/>
              <a:t>1.	Registro/Iniciar Sesión:</a:t>
            </a:r>
          </a:p>
          <a:p>
            <a:pPr marL="0" indent="0" algn="just">
              <a:buNone/>
            </a:pPr>
            <a:r>
              <a:rPr lang="es-MX" dirty="0" smtClean="0"/>
              <a:t>El usuario se registra o inicia sesión en la aplicación web.</a:t>
            </a:r>
          </a:p>
          <a:p>
            <a:pPr marL="0" indent="0" algn="just">
              <a:buNone/>
            </a:pPr>
            <a:r>
              <a:rPr lang="es-MX" dirty="0" smtClean="0"/>
              <a:t>ASP.NET Core </a:t>
            </a:r>
            <a:r>
              <a:rPr lang="es-MX" dirty="0" err="1" smtClean="0"/>
              <a:t>Identity</a:t>
            </a:r>
            <a:r>
              <a:rPr lang="es-MX" dirty="0" smtClean="0"/>
              <a:t> maneja este proceso y, una vez autenticado, se genera un </a:t>
            </a:r>
            <a:r>
              <a:rPr lang="es-MX" dirty="0" err="1" smtClean="0"/>
              <a:t>token</a:t>
            </a:r>
            <a:r>
              <a:rPr lang="es-MX" dirty="0" smtClean="0"/>
              <a:t> JWT.</a:t>
            </a:r>
          </a:p>
          <a:p>
            <a:pPr algn="just"/>
            <a:r>
              <a:rPr lang="es-MX" b="1" dirty="0" smtClean="0"/>
              <a:t>2.	Recepción del </a:t>
            </a:r>
            <a:r>
              <a:rPr lang="es-MX" b="1" dirty="0" err="1" smtClean="0"/>
              <a:t>Token</a:t>
            </a:r>
            <a:r>
              <a:rPr lang="es-MX" b="1" dirty="0" smtClean="0"/>
              <a:t>:</a:t>
            </a:r>
          </a:p>
          <a:p>
            <a:pPr marL="0" indent="0" algn="just">
              <a:buNone/>
            </a:pPr>
            <a:r>
              <a:rPr lang="es-MX" dirty="0" smtClean="0"/>
              <a:t>El servidor envía el </a:t>
            </a:r>
            <a:r>
              <a:rPr lang="es-MX" dirty="0" err="1" smtClean="0"/>
              <a:t>token</a:t>
            </a:r>
            <a:r>
              <a:rPr lang="es-MX" dirty="0" smtClean="0"/>
              <a:t> JWT al cliente.</a:t>
            </a:r>
          </a:p>
          <a:p>
            <a:pPr marL="0" indent="0" algn="just">
              <a:buNone/>
            </a:pPr>
            <a:r>
              <a:rPr lang="es-MX" dirty="0" smtClean="0"/>
              <a:t>El cliente almacena el </a:t>
            </a:r>
            <a:r>
              <a:rPr lang="es-MX" dirty="0" err="1" smtClean="0"/>
              <a:t>token</a:t>
            </a:r>
            <a:r>
              <a:rPr lang="es-MX" dirty="0" smtClean="0"/>
              <a:t> (por ejemplo, en el almacenamiento local del navegador).</a:t>
            </a:r>
          </a:p>
          <a:p>
            <a:pPr algn="just"/>
            <a:r>
              <a:rPr lang="es-MX" b="1" dirty="0" smtClean="0"/>
              <a:t>3.	Solicitudes a la API:</a:t>
            </a:r>
          </a:p>
          <a:p>
            <a:pPr marL="0" indent="0" algn="just">
              <a:buNone/>
            </a:pPr>
            <a:r>
              <a:rPr lang="es-MX" dirty="0" smtClean="0"/>
              <a:t>El cliente realiza solicitudes a la API incluyendo el </a:t>
            </a:r>
            <a:r>
              <a:rPr lang="es-MX" dirty="0" err="1" smtClean="0"/>
              <a:t>token</a:t>
            </a:r>
            <a:r>
              <a:rPr lang="es-MX" dirty="0" smtClean="0"/>
              <a:t> JWT en el encabezado de autorización (</a:t>
            </a:r>
            <a:r>
              <a:rPr lang="es-MX" dirty="0" err="1" smtClean="0"/>
              <a:t>Authorization</a:t>
            </a:r>
            <a:r>
              <a:rPr lang="es-MX" dirty="0" smtClean="0"/>
              <a:t>: </a:t>
            </a:r>
            <a:r>
              <a:rPr lang="es-MX" dirty="0" err="1" smtClean="0"/>
              <a:t>Bearer</a:t>
            </a:r>
            <a:r>
              <a:rPr lang="es-MX" dirty="0" smtClean="0"/>
              <a:t> &lt;</a:t>
            </a:r>
            <a:r>
              <a:rPr lang="es-MX" dirty="0" err="1" smtClean="0"/>
              <a:t>token</a:t>
            </a:r>
            <a:r>
              <a:rPr lang="es-MX" dirty="0" smtClean="0"/>
              <a:t>&gt;).</a:t>
            </a:r>
          </a:p>
          <a:p>
            <a:pPr algn="just"/>
            <a:r>
              <a:rPr lang="es-MX" b="1" dirty="0" smtClean="0"/>
              <a:t>4.	Validación del </a:t>
            </a:r>
            <a:r>
              <a:rPr lang="es-MX" b="1" dirty="0" err="1" smtClean="0"/>
              <a:t>Token</a:t>
            </a:r>
            <a:r>
              <a:rPr lang="es-MX" b="1" dirty="0" smtClean="0"/>
              <a:t>:</a:t>
            </a:r>
          </a:p>
          <a:p>
            <a:pPr marL="0" indent="0" algn="just">
              <a:buNone/>
            </a:pPr>
            <a:r>
              <a:rPr lang="es-MX" dirty="0" smtClean="0"/>
              <a:t>El servidor valida el </a:t>
            </a:r>
            <a:r>
              <a:rPr lang="es-MX" dirty="0" err="1" smtClean="0"/>
              <a:t>token</a:t>
            </a:r>
            <a:r>
              <a:rPr lang="es-MX" dirty="0" smtClean="0"/>
              <a:t> JWT para asegurarse de que es válido y no ha expirado.</a:t>
            </a:r>
          </a:p>
          <a:p>
            <a:pPr marL="0" indent="0" algn="just">
              <a:buNone/>
            </a:pPr>
            <a:r>
              <a:rPr lang="es-MX" dirty="0" smtClean="0"/>
              <a:t>Si el </a:t>
            </a:r>
            <a:r>
              <a:rPr lang="es-MX" dirty="0" err="1" smtClean="0"/>
              <a:t>token</a:t>
            </a:r>
            <a:r>
              <a:rPr lang="es-MX" dirty="0" smtClean="0"/>
              <a:t> es válido, el servidor procesa la solicitud y proporciona acceso a los recursos protegidos.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940657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855</TotalTime>
  <Words>701</Words>
  <Application>Microsoft Office PowerPoint</Application>
  <PresentationFormat>Panorámica</PresentationFormat>
  <Paragraphs>50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3" baseType="lpstr">
      <vt:lpstr>Arial</vt:lpstr>
      <vt:lpstr>Arial Unicode MS</vt:lpstr>
      <vt:lpstr>Calibri</vt:lpstr>
      <vt:lpstr>Calibri Light</vt:lpstr>
      <vt:lpstr>Tema de Office</vt:lpstr>
      <vt:lpstr>Autenticación y Autorización con JWT usando IDENTITY MANAGER</vt:lpstr>
      <vt:lpstr>¿Qué es JWT?</vt:lpstr>
      <vt:lpstr>Presentación de PowerPoint</vt:lpstr>
      <vt:lpstr>¿Cómo se relacionan IDENTITY Y JWT?</vt:lpstr>
      <vt:lpstr>Presentación de PowerPoint</vt:lpstr>
      <vt:lpstr>Presentación de PowerPoint</vt:lpstr>
      <vt:lpstr>Presentación de PowerPoint</vt:lpstr>
      <vt:lpstr>Ejemplo de Flujo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Autenticación y Autorización con JWT usando IDENTITY MANAGER</dc:title>
  <dc:creator>gabriel</dc:creator>
  <cp:lastModifiedBy>gabriel</cp:lastModifiedBy>
  <cp:revision>7</cp:revision>
  <dcterms:created xsi:type="dcterms:W3CDTF">2024-09-24T00:12:51Z</dcterms:created>
  <dcterms:modified xsi:type="dcterms:W3CDTF">2025-03-27T03:38:15Z</dcterms:modified>
</cp:coreProperties>
</file>